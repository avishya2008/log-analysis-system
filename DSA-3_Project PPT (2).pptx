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9" r:id="rId7"/>
    <p:sldId id="270" r:id="rId8"/>
    <p:sldId id="265" r:id="rId9"/>
    <p:sldId id="259" r:id="rId10"/>
    <p:sldId id="267" r:id="rId11"/>
    <p:sldId id="266" r:id="rId12"/>
    <p:sldId id="260" r:id="rId13"/>
    <p:sldId id="262"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5955" y="206680"/>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LOG ANALYSIS SYSTEM</a:t>
            </a:r>
          </a:p>
        </p:txBody>
      </p:sp>
      <p:sp>
        <p:nvSpPr>
          <p:cNvPr id="3" name="Subtitle 2"/>
          <p:cNvSpPr>
            <a:spLocks noGrp="1"/>
          </p:cNvSpPr>
          <p:nvPr>
            <p:ph type="subTitle" idx="1"/>
          </p:nvPr>
        </p:nvSpPr>
        <p:spPr>
          <a:xfrm>
            <a:off x="3943589" y="2665678"/>
            <a:ext cx="4551284" cy="1396014"/>
          </a:xfrm>
        </p:spPr>
        <p:txBody>
          <a:bodyPr/>
          <a:lstStyle/>
          <a:p>
            <a:r>
              <a:rPr lang="en-US" dirty="0">
                <a:solidFill>
                  <a:srgbClr val="0070C0"/>
                </a:solidFill>
              </a:rPr>
              <a:t>Team Members</a:t>
            </a:r>
          </a:p>
          <a:p>
            <a:r>
              <a:rPr lang="en-US" dirty="0">
                <a:solidFill>
                  <a:srgbClr val="0070C0"/>
                </a:solidFill>
              </a:rPr>
              <a:t>M.AVISHYA : 2520030482</a:t>
            </a:r>
          </a:p>
          <a:p>
            <a:r>
              <a:rPr lang="en-US" dirty="0">
                <a:solidFill>
                  <a:srgbClr val="0070C0"/>
                </a:solidFill>
              </a:rPr>
              <a:t>K.PRAGNYA : 2520030430</a:t>
            </a:r>
          </a:p>
          <a:p>
            <a:r>
              <a:rPr lang="en-US" dirty="0">
                <a:solidFill>
                  <a:srgbClr val="0070C0"/>
                </a:solidFill>
              </a:rPr>
              <a:t>G.VARSHINI : 2520030017</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latin typeface="Times New Roman" panose="02020603050405020304" pitchFamily="18" charset="0"/>
                <a:ea typeface="Calibri" panose="020F0502020204030204" pitchFamily="34" charset="0"/>
                <a:cs typeface="Gautami" panose="020B0502040204020203" pitchFamily="34" charset="0"/>
              </a:rPr>
              <a:t>Dr. CH . ANURADHA</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DF1925E2-3533-4DBC-EB7F-BA6EF243B0CC}"/>
              </a:ext>
            </a:extLst>
          </p:cNvPr>
          <p:cNvSpPr txBox="1"/>
          <p:nvPr/>
        </p:nvSpPr>
        <p:spPr>
          <a:xfrm>
            <a:off x="2060510" y="1371599"/>
            <a:ext cx="8333792" cy="3693319"/>
          </a:xfrm>
          <a:prstGeom prst="rect">
            <a:avLst/>
          </a:prstGeom>
          <a:noFill/>
        </p:spPr>
        <p:txBody>
          <a:bodyPr wrap="square" rtlCol="0">
            <a:spAutoFit/>
          </a:bodyPr>
          <a:lstStyle/>
          <a:p>
            <a:pPr marL="285750" indent="-285750" algn="just">
              <a:buFont typeface="Arial" panose="020B0604020202020204" pitchFamily="34" charset="0"/>
              <a:buChar char="•"/>
            </a:pPr>
            <a:r>
              <a:rPr lang="en-US" dirty="0"/>
              <a:t>The Log Analysis System is designed to identify recurring error patterns from massive server log files efficiently. The system analyzes continuous streams of log data and searches for predefined error signatures using efficient string-matching algorithms. It detects repeated errors and categorizes them based on their frequency and severity level. The system can handle large datasets without requiring administrators to manually inspect every log entry. It continuously monitors log files to identify new errors as they occur. The detected errors are organized into meaningful categories such as low, medium, and high severity. </a:t>
            </a:r>
          </a:p>
          <a:p>
            <a:pPr marL="285750" indent="-285750" algn="just">
              <a:buFont typeface="Arial" panose="020B0604020202020204" pitchFamily="34" charset="0"/>
              <a:buChar char="•"/>
            </a:pPr>
            <a:endParaRPr lang="en-US" dirty="0"/>
          </a:p>
          <a:p>
            <a:pPr marL="285750" indent="-285750">
              <a:buFont typeface="Arial" panose="020B0604020202020204" pitchFamily="34" charset="0"/>
              <a:buChar char="•"/>
            </a:pPr>
            <a:r>
              <a:rPr lang="en-US" dirty="0"/>
              <a:t>Summary reports are generated to provide information about frequently occurring errors and their impact on the server. The system helps administrators identify recurring faults and understand their possible causes. Efficient searching techniques improve the speed of error detection and reduce processing time.</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52BE5D34-59A9-A658-2DE7-3676893BE46C}"/>
              </a:ext>
            </a:extLst>
          </p:cNvPr>
          <p:cNvSpPr txBox="1"/>
          <p:nvPr/>
        </p:nvSpPr>
        <p:spPr>
          <a:xfrm>
            <a:off x="1934545" y="940608"/>
            <a:ext cx="8189170" cy="6494085"/>
          </a:xfrm>
          <a:prstGeom prst="rect">
            <a:avLst/>
          </a:prstGeom>
          <a:noFill/>
        </p:spPr>
        <p:txBody>
          <a:bodyPr wrap="square" rtlCol="0">
            <a:spAutoFit/>
          </a:bodyPr>
          <a:lstStyle/>
          <a:p>
            <a:pPr marL="285750" indent="-285750" algn="just">
              <a:buFont typeface="Arial" panose="020B0604020202020204" pitchFamily="34" charset="0"/>
              <a:buChar char="•"/>
            </a:pPr>
            <a:r>
              <a:rPr lang="en-IN" sz="1600" dirty="0"/>
              <a:t> </a:t>
            </a:r>
            <a:r>
              <a:rPr lang="en-IN" dirty="0"/>
              <a:t>In modern computing environments, servers generate millions of log entries every day to record system activities, user requests, errors, and security events. </a:t>
            </a:r>
            <a:r>
              <a:rPr lang="en-IN" dirty="0" err="1"/>
              <a:t>Analyzing</a:t>
            </a:r>
            <a:r>
              <a:rPr lang="en-IN" dirty="0"/>
              <a:t> these large log files manually is time-consuming and may cause important errors to be missed.</a:t>
            </a:r>
          </a:p>
          <a:p>
            <a:pPr marL="285750" indent="-285750" algn="just">
              <a:buFont typeface="Arial" panose="020B0604020202020204" pitchFamily="34" charset="0"/>
              <a:buChar char="•"/>
            </a:pPr>
            <a:endParaRPr lang="en-IN" dirty="0"/>
          </a:p>
          <a:p>
            <a:pPr marL="342900" indent="-342900" algn="just">
              <a:buFont typeface="Arial" panose="020B0604020202020204" pitchFamily="34" charset="0"/>
              <a:buChar char="•"/>
            </a:pPr>
            <a:r>
              <a:rPr lang="en-IN" dirty="0"/>
              <a:t>A Log Analysis System provides an automated solution for processing and </a:t>
            </a:r>
            <a:r>
              <a:rPr lang="en-IN" dirty="0" err="1"/>
              <a:t>analyzing</a:t>
            </a:r>
            <a:r>
              <a:rPr lang="en-IN" dirty="0"/>
              <a:t> server logs. It searches the logs for predefined error patterns or signatures and identifies matching entries using efficient string-matching algorithms.</a:t>
            </a:r>
          </a:p>
          <a:p>
            <a:pPr marL="342900" indent="-342900" algn="just">
              <a:buFont typeface="Arial" panose="020B0604020202020204" pitchFamily="34" charset="0"/>
              <a:buChar char="•"/>
            </a:pPr>
            <a:endParaRPr lang="en-IN" dirty="0"/>
          </a:p>
          <a:p>
            <a:pPr marL="342900" indent="-342900" algn="just">
              <a:buFont typeface="Arial" panose="020B0604020202020204" pitchFamily="34" charset="0"/>
              <a:buChar char="•"/>
            </a:pPr>
            <a:r>
              <a:rPr lang="en-IN" dirty="0"/>
              <a:t>The system categorizes detected errors according to their frequency and severity, making it easier to identify the most critical and recurring problems. It also supports continuous log monitoring, allowing newly generated errors to be detected quickly.</a:t>
            </a:r>
          </a:p>
          <a:p>
            <a:pPr algn="just"/>
            <a:endParaRPr lang="en-IN" dirty="0"/>
          </a:p>
          <a:p>
            <a:pPr marL="342900" indent="-342900" algn="just">
              <a:buFont typeface="Arial" panose="020B0604020202020204" pitchFamily="34" charset="0"/>
              <a:buChar char="•"/>
            </a:pPr>
            <a:r>
              <a:rPr lang="en-IN" dirty="0"/>
              <a:t>The </a:t>
            </a:r>
            <a:r>
              <a:rPr lang="en-IN" dirty="0" err="1"/>
              <a:t>analyzed</a:t>
            </a:r>
            <a:r>
              <a:rPr lang="en-IN" dirty="0"/>
              <a:t> results are presented as matched logs and summary reports, helping system administrators understand server problems more effectively. By reducing manual effort and improving the speed of error detection, the system supports quick fault diagnosis, better server monitoring, and improved system reliability.</a:t>
            </a:r>
          </a:p>
          <a:p>
            <a:pPr marL="342900" indent="-342900" algn="just">
              <a:buFont typeface="Arial" panose="020B0604020202020204" pitchFamily="34" charset="0"/>
              <a:buChar char="•"/>
            </a:pPr>
            <a:endParaRPr lang="en-IN" dirty="0"/>
          </a:p>
          <a:p>
            <a:pPr marL="342900" indent="-342900" algn="just">
              <a:buFont typeface="Arial" panose="020B0604020202020204" pitchFamily="34" charset="0"/>
              <a:buChar char="•"/>
            </a:pPr>
            <a:endParaRPr lang="en-IN" dirty="0"/>
          </a:p>
          <a:p>
            <a:pPr marL="342900" indent="-342900" algn="just">
              <a:buFont typeface="Arial" panose="020B0604020202020204" pitchFamily="34" charset="0"/>
              <a:buChar char="•"/>
            </a:pPr>
            <a:endParaRPr lang="en-IN" sz="2000" dirty="0"/>
          </a:p>
          <a:p>
            <a:pPr algn="just"/>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B9E530EA-91D2-2310-409C-44BC9B6572F5}"/>
              </a:ext>
            </a:extLst>
          </p:cNvPr>
          <p:cNvSpPr txBox="1"/>
          <p:nvPr/>
        </p:nvSpPr>
        <p:spPr>
          <a:xfrm>
            <a:off x="2136710" y="806448"/>
            <a:ext cx="7604449" cy="5909310"/>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t>Log Files</a:t>
            </a:r>
          </a:p>
          <a:p>
            <a:pPr algn="just"/>
            <a:r>
              <a:rPr lang="en-US" dirty="0"/>
              <a:t>Large server log files containing system activities and events.</a:t>
            </a:r>
          </a:p>
          <a:p>
            <a:pPr algn="just"/>
            <a:r>
              <a:rPr lang="en-US" dirty="0"/>
              <a:t>May include timestamps, IP addresses, user activities, warnings, and error messages.</a:t>
            </a:r>
          </a:p>
          <a:p>
            <a:pPr algn="just"/>
            <a:r>
              <a:rPr lang="en-US" dirty="0"/>
              <a:t>Logs can be in formats such as .log, .txt, or other structured formats.</a:t>
            </a:r>
          </a:p>
          <a:p>
            <a:pPr marL="285750" indent="-285750" algn="just">
              <a:buFont typeface="Arial" panose="020B0604020202020204" pitchFamily="34" charset="0"/>
              <a:buChar char="•"/>
            </a:pPr>
            <a:r>
              <a:rPr lang="en-US" b="1" dirty="0"/>
              <a:t>Predefined Error Patterns</a:t>
            </a:r>
          </a:p>
          <a:p>
            <a:pPr algn="just"/>
            <a:r>
              <a:rPr lang="en-US" dirty="0"/>
              <a:t>A collection of known error messages or signatures that the system needs to search for.</a:t>
            </a:r>
          </a:p>
          <a:p>
            <a:pPr algn="just"/>
            <a:r>
              <a:rPr lang="en-US" dirty="0"/>
              <a:t>Examples: Connection refused, File not found, Database error, Authentication failed.</a:t>
            </a:r>
          </a:p>
          <a:p>
            <a:pPr algn="just"/>
            <a:r>
              <a:rPr lang="en-US" dirty="0"/>
              <a:t>These patterns help the system quickly identify known problems.</a:t>
            </a:r>
          </a:p>
          <a:p>
            <a:pPr marL="285750" indent="-285750" algn="just">
              <a:buFont typeface="Arial" panose="020B0604020202020204" pitchFamily="34" charset="0"/>
              <a:buChar char="•"/>
            </a:pPr>
            <a:r>
              <a:rPr lang="en-US" b="1" dirty="0"/>
              <a:t>Severity Information</a:t>
            </a:r>
          </a:p>
          <a:p>
            <a:pPr algn="just"/>
            <a:r>
              <a:rPr lang="en-US" dirty="0"/>
              <a:t>Error patterns can be associated with severity levels such as Low, Medium, High, and Critical.</a:t>
            </a:r>
          </a:p>
          <a:p>
            <a:pPr algn="just"/>
            <a:r>
              <a:rPr lang="en-US" dirty="0"/>
              <a:t>This helps administrators prioritize important errors.</a:t>
            </a:r>
          </a:p>
          <a:p>
            <a:pPr marL="285750" indent="-285750" algn="just">
              <a:buFont typeface="Arial" panose="020B0604020202020204" pitchFamily="34" charset="0"/>
              <a:buChar char="•"/>
            </a:pPr>
            <a:r>
              <a:rPr lang="en-US" b="1" dirty="0"/>
              <a:t>Monitoring Input</a:t>
            </a:r>
          </a:p>
          <a:p>
            <a:pPr algn="just"/>
            <a:r>
              <a:rPr lang="en-US" dirty="0"/>
              <a:t>For continuous monitoring, newly generated log entries are continuously provided to the system.</a:t>
            </a:r>
          </a:p>
          <a:p>
            <a:pPr algn="just"/>
            <a:r>
              <a:rPr lang="en-US" dirty="0"/>
              <a:t>The system analyzes new entries as they appear and detects matching error patterns.</a:t>
            </a:r>
            <a:endParaRPr lang="en-IN" dirty="0"/>
          </a:p>
          <a:p>
            <a:pPr algn="just"/>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332A06-B8D3-258B-E340-27CE82A54401}"/>
              </a:ext>
            </a:extLst>
          </p:cNvPr>
          <p:cNvSpPr txBox="1"/>
          <p:nvPr/>
        </p:nvSpPr>
        <p:spPr>
          <a:xfrm>
            <a:off x="2242457" y="840105"/>
            <a:ext cx="7707086" cy="5632311"/>
          </a:xfrm>
          <a:prstGeom prst="rect">
            <a:avLst/>
          </a:prstGeom>
          <a:noFill/>
        </p:spPr>
        <p:txBody>
          <a:bodyPr wrap="square" rtlCol="0">
            <a:spAutoFit/>
          </a:bodyPr>
          <a:lstStyle/>
          <a:p>
            <a:pPr algn="just"/>
            <a:r>
              <a:rPr lang="en-US" dirty="0"/>
              <a:t>Matched Logs are the log entries that contain one or more of the predefined error patterns or signatures.</a:t>
            </a:r>
          </a:p>
          <a:p>
            <a:pPr marL="285750" indent="-285750" algn="just">
              <a:buFont typeface="Arial" panose="020B0604020202020204" pitchFamily="34" charset="0"/>
              <a:buChar char="•"/>
            </a:pPr>
            <a:endParaRPr lang="en-US" dirty="0"/>
          </a:p>
          <a:p>
            <a:pPr marL="285750" indent="-285750">
              <a:buFont typeface="Arial" panose="020B0604020202020204" pitchFamily="34" charset="0"/>
              <a:buChar char="•"/>
            </a:pPr>
            <a:r>
              <a:rPr lang="en-US" b="1" dirty="0"/>
              <a:t>The system provides:</a:t>
            </a:r>
          </a:p>
          <a:p>
            <a:pPr marL="285750" indent="-285750">
              <a:buFont typeface="Arial" panose="020B0604020202020204" pitchFamily="34" charset="0"/>
              <a:buChar char="•"/>
            </a:pPr>
            <a:endParaRPr lang="en-US" dirty="0"/>
          </a:p>
          <a:p>
            <a:r>
              <a:rPr lang="en-US" dirty="0"/>
              <a:t>Matched error message – the detected error from the log.</a:t>
            </a:r>
          </a:p>
          <a:p>
            <a:r>
              <a:rPr lang="en-US" dirty="0"/>
              <a:t>Timestamp – when the error occurred.</a:t>
            </a:r>
          </a:p>
          <a:p>
            <a:r>
              <a:rPr lang="en-US" dirty="0"/>
              <a:t>Error pattern/signature – the predefined pattern that matched.</a:t>
            </a:r>
          </a:p>
          <a:p>
            <a:r>
              <a:rPr lang="en-US" dirty="0"/>
              <a:t>Frequency – number of times the same error occurred.</a:t>
            </a:r>
          </a:p>
          <a:p>
            <a:r>
              <a:rPr lang="en-US" dirty="0"/>
              <a:t>Severity – Low, Medium, High, or Critical.</a:t>
            </a:r>
          </a:p>
          <a:p>
            <a:r>
              <a:rPr lang="en-US" dirty="0"/>
              <a:t>Source information – server, application, or service where the error occurred.</a:t>
            </a:r>
          </a:p>
          <a:p>
            <a:r>
              <a:rPr lang="en-US" dirty="0"/>
              <a:t>Summary report – a consolidated list of recurring errors and their frequencies.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Example:</a:t>
            </a:r>
          </a:p>
          <a:p>
            <a:pPr marL="285750" indent="-285750">
              <a:buFont typeface="Arial" panose="020B0604020202020204" pitchFamily="34" charset="0"/>
              <a:buChar char="•"/>
            </a:pPr>
            <a:endParaRPr lang="en-US" dirty="0"/>
          </a:p>
          <a:p>
            <a:r>
              <a:rPr lang="en-US" dirty="0"/>
              <a:t>2026-08-24 10:30:15 | Database Connection Failed | Frequency: 25 | Severity: High</a:t>
            </a:r>
          </a:p>
          <a:p>
            <a:r>
              <a:rPr lang="en-US" dirty="0"/>
              <a:t>This output helps system administrators quickly identify recurring and critical faults in the server.</a:t>
            </a:r>
            <a:endParaRPr lang="en-IN" dirty="0"/>
          </a:p>
          <a:p>
            <a:endParaRPr lang="en-IN" dirty="0"/>
          </a:p>
        </p:txBody>
      </p:sp>
    </p:spTree>
    <p:extLst>
      <p:ext uri="{BB962C8B-B14F-4D97-AF65-F5344CB8AC3E}">
        <p14:creationId xmlns:p14="http://schemas.microsoft.com/office/powerpoint/2010/main" val="2241590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BE9324-FFE8-E1AF-CB9D-A8B317A393B3}"/>
              </a:ext>
            </a:extLst>
          </p:cNvPr>
          <p:cNvSpPr txBox="1"/>
          <p:nvPr/>
        </p:nvSpPr>
        <p:spPr>
          <a:xfrm>
            <a:off x="1687286" y="811650"/>
            <a:ext cx="8817428" cy="5632311"/>
          </a:xfrm>
          <a:prstGeom prst="rect">
            <a:avLst/>
          </a:prstGeom>
          <a:noFill/>
        </p:spPr>
        <p:txBody>
          <a:bodyPr wrap="square" rtlCol="0">
            <a:spAutoFit/>
          </a:bodyPr>
          <a:lstStyle/>
          <a:p>
            <a:pPr marL="285750" indent="-285750">
              <a:buFont typeface="Arial" panose="020B0604020202020204" pitchFamily="34" charset="0"/>
              <a:buChar char="•"/>
            </a:pPr>
            <a:r>
              <a:rPr lang="en-US" b="1" dirty="0"/>
              <a:t>Constraints: </a:t>
            </a:r>
            <a:r>
              <a:rPr lang="en-US" dirty="0"/>
              <a:t>Millions of Log Entries</a:t>
            </a:r>
          </a:p>
          <a:p>
            <a:pPr marL="285750" indent="-285750">
              <a:buFont typeface="Arial" panose="020B0604020202020204" pitchFamily="34" charset="0"/>
              <a:buChar char="•"/>
            </a:pPr>
            <a:endParaRPr lang="en-US" dirty="0"/>
          </a:p>
          <a:p>
            <a:r>
              <a:rPr lang="en-US" dirty="0"/>
              <a:t>The system must be capable of processing **millions of log entries** efficiently without significant performance degradation.</a:t>
            </a:r>
          </a:p>
          <a:p>
            <a:endParaRPr lang="en-US" dirty="0"/>
          </a:p>
          <a:p>
            <a:pPr marL="285750" indent="-285750" algn="just">
              <a:buFont typeface="Arial" panose="020B0604020202020204" pitchFamily="34" charset="0"/>
              <a:buChar char="•"/>
            </a:pPr>
            <a:r>
              <a:rPr lang="en-US" b="1" dirty="0"/>
              <a:t>Key constraints include:</a:t>
            </a:r>
          </a:p>
          <a:p>
            <a:pPr marL="285750" indent="-285750" algn="just">
              <a:buFont typeface="Arial" panose="020B0604020202020204" pitchFamily="34" charset="0"/>
              <a:buChar char="•"/>
            </a:pPr>
            <a:endParaRPr lang="en-US" dirty="0"/>
          </a:p>
          <a:p>
            <a:pPr marL="285750" indent="-285750">
              <a:buFont typeface="Arial" panose="020B0604020202020204" pitchFamily="34" charset="0"/>
              <a:buChar char="•"/>
            </a:pPr>
            <a:r>
              <a:rPr lang="en-US" dirty="0"/>
              <a:t>Large data volume: Logs may contain millions of records and require efficient processing.</a:t>
            </a:r>
          </a:p>
          <a:p>
            <a:pPr marL="285750" indent="-285750">
              <a:buFont typeface="Arial" panose="020B0604020202020204" pitchFamily="34" charset="0"/>
              <a:buChar char="•"/>
            </a:pPr>
            <a:r>
              <a:rPr lang="en-US" dirty="0"/>
              <a:t>Fast searching: String-matching algorithms should quickly identify predefined error patterns.</a:t>
            </a:r>
          </a:p>
          <a:p>
            <a:pPr marL="285750" indent="-285750">
              <a:buFont typeface="Arial" panose="020B0604020202020204" pitchFamily="34" charset="0"/>
              <a:buChar char="•"/>
            </a:pPr>
            <a:r>
              <a:rPr lang="en-US" dirty="0"/>
              <a:t>Memory efficiency: The system should avoid loading the entire log file into memory at once.</a:t>
            </a:r>
          </a:p>
          <a:p>
            <a:pPr marL="285750" indent="-285750">
              <a:buFont typeface="Arial" panose="020B0604020202020204" pitchFamily="34" charset="0"/>
              <a:buChar char="•"/>
            </a:pPr>
            <a:r>
              <a:rPr lang="en-US" dirty="0"/>
              <a:t>Scalability: It should handle increasing log sizes without major performance issues.</a:t>
            </a:r>
          </a:p>
          <a:p>
            <a:pPr marL="285750" indent="-285750">
              <a:buFont typeface="Arial" panose="020B0604020202020204" pitchFamily="34" charset="0"/>
              <a:buChar char="•"/>
            </a:pPr>
            <a:r>
              <a:rPr lang="en-US" dirty="0"/>
              <a:t>Continuous monitoring: New log entries should be processed continuously as they are generated.</a:t>
            </a:r>
          </a:p>
          <a:p>
            <a:pPr marL="285750" indent="-285750">
              <a:buFont typeface="Arial" panose="020B0604020202020204" pitchFamily="34" charset="0"/>
              <a:buChar char="•"/>
            </a:pPr>
            <a:r>
              <a:rPr lang="en-US" dirty="0"/>
              <a:t>Accurate detection: Matching should identify relevant errors while minimizing false matches.</a:t>
            </a:r>
          </a:p>
          <a:p>
            <a:pPr marL="285750" indent="-285750">
              <a:buFont typeface="Arial" panose="020B0604020202020204" pitchFamily="34" charset="0"/>
              <a:buChar char="•"/>
            </a:pPr>
            <a:r>
              <a:rPr lang="en-US" dirty="0"/>
              <a:t>Efficient reporting: Summary reports should be generated without repeatedly scanning the entire dataset.</a:t>
            </a:r>
            <a:endParaRPr lang="en-IN" dirty="0"/>
          </a:p>
          <a:p>
            <a:endParaRPr lang="en-IN" dirty="0"/>
          </a:p>
        </p:txBody>
      </p:sp>
    </p:spTree>
    <p:extLst>
      <p:ext uri="{BB962C8B-B14F-4D97-AF65-F5344CB8AC3E}">
        <p14:creationId xmlns:p14="http://schemas.microsoft.com/office/powerpoint/2010/main" val="353966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F1338D58-E693-5BBE-C8B4-4897CD6D5624}"/>
              </a:ext>
            </a:extLst>
          </p:cNvPr>
          <p:cNvSpPr txBox="1"/>
          <p:nvPr/>
        </p:nvSpPr>
        <p:spPr>
          <a:xfrm>
            <a:off x="1625600" y="1057738"/>
            <a:ext cx="9469120" cy="6186309"/>
          </a:xfrm>
          <a:prstGeom prst="rect">
            <a:avLst/>
          </a:prstGeom>
          <a:noFill/>
        </p:spPr>
        <p:txBody>
          <a:bodyPr wrap="square" rtlCol="0">
            <a:spAutoFit/>
          </a:bodyPr>
          <a:lstStyle/>
          <a:p>
            <a:pPr marL="285750" indent="-285750">
              <a:buFont typeface="Arial" panose="020B0604020202020204" pitchFamily="34" charset="0"/>
              <a:buChar char="•"/>
            </a:pPr>
            <a:r>
              <a:rPr lang="en-IN" dirty="0"/>
              <a:t>Modern servers generate millions of log entries, making manual analysis slow, difficult, and error-prone.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proposed Log Analysis System </a:t>
            </a:r>
            <a:r>
              <a:rPr lang="en-IN" dirty="0" err="1"/>
              <a:t>analyzes</a:t>
            </a:r>
            <a:r>
              <a:rPr lang="en-IN" dirty="0"/>
              <a:t> server log files by searching for predefined error patterns or signatures using efficient string-matching algorithms.</a:t>
            </a:r>
          </a:p>
          <a:p>
            <a:r>
              <a:rPr lang="en-IN" dirty="0"/>
              <a:t> </a:t>
            </a:r>
          </a:p>
          <a:p>
            <a:pPr marL="285750" indent="-285750">
              <a:buFont typeface="Arial" panose="020B0604020202020204" pitchFamily="34" charset="0"/>
              <a:buChar char="•"/>
            </a:pPr>
            <a:r>
              <a:rPr lang="en-IN" dirty="0"/>
              <a:t>The system identifies matching log entries and categorizes detected errors based on their frequency and severity.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It also supports continuous log monitoring so that newly generated errors can be detected quickly.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system takes log files and predefined error patterns as input and produces matched logs, recurring error patterns, frequency/severity information, and summary reports as output.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main challenge is to process millions of log entries efficiently while minimizing processing time and memory usage.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objective is to help system administrators quickly diagnose faults, monitor server health, and reduce the effort required for manual log analysis.</a:t>
            </a:r>
          </a:p>
          <a:p>
            <a:pPr marL="285750" indent="-285750">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3441026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6" name="Picture 5">
            <a:extLst>
              <a:ext uri="{FF2B5EF4-FFF2-40B4-BE49-F238E27FC236}">
                <a16:creationId xmlns:a16="http://schemas.microsoft.com/office/drawing/2014/main" id="{03A64449-A7EF-889F-6793-2E5F62CF2804}"/>
              </a:ext>
            </a:extLst>
          </p:cNvPr>
          <p:cNvPicPr>
            <a:picLocks noChangeAspect="1"/>
          </p:cNvPicPr>
          <p:nvPr/>
        </p:nvPicPr>
        <p:blipFill>
          <a:blip r:embed="rId2"/>
          <a:stretch>
            <a:fillRect/>
          </a:stretch>
        </p:blipFill>
        <p:spPr>
          <a:xfrm>
            <a:off x="3564294" y="963217"/>
            <a:ext cx="5215812" cy="54492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B0403A87-9AC1-8620-46E9-3AD396B24741}"/>
              </a:ext>
            </a:extLst>
          </p:cNvPr>
          <p:cNvSpPr txBox="1"/>
          <p:nvPr/>
        </p:nvSpPr>
        <p:spPr>
          <a:xfrm>
            <a:off x="1122163" y="1124989"/>
            <a:ext cx="10282334" cy="5355312"/>
          </a:xfrm>
          <a:prstGeom prst="rect">
            <a:avLst/>
          </a:prstGeom>
          <a:noFill/>
        </p:spPr>
        <p:txBody>
          <a:bodyPr wrap="square" rtlCol="0">
            <a:spAutoFit/>
          </a:bodyPr>
          <a:lstStyle/>
          <a:p>
            <a:pPr marL="285750" indent="-285750" algn="just">
              <a:buFont typeface="Arial" panose="020B0604020202020204" pitchFamily="34" charset="0"/>
              <a:buChar char="•"/>
            </a:pPr>
            <a:r>
              <a:rPr lang="en-IN" dirty="0"/>
              <a:t>The implemented Log Analysis System provides the following results:</a:t>
            </a:r>
          </a:p>
          <a:p>
            <a:pPr algn="just"/>
            <a:endParaRPr lang="en-IN" dirty="0"/>
          </a:p>
          <a:p>
            <a:pPr marL="285750" lvl="0" indent="-285750" algn="just">
              <a:buFont typeface="Arial" panose="020B0604020202020204" pitchFamily="34" charset="0"/>
              <a:buChar char="•"/>
            </a:pPr>
            <a:r>
              <a:rPr lang="en-IN" dirty="0"/>
              <a:t>Successfully processes large volumes of server log entries. </a:t>
            </a:r>
          </a:p>
          <a:p>
            <a:pPr marL="285750" lvl="0" indent="-285750" algn="just">
              <a:buFont typeface="Arial" panose="020B0604020202020204" pitchFamily="34" charset="0"/>
              <a:buChar char="•"/>
            </a:pPr>
            <a:endParaRPr lang="en-IN" dirty="0"/>
          </a:p>
          <a:p>
            <a:pPr marL="285750" lvl="0" indent="-285750" algn="just">
              <a:buFont typeface="Arial" panose="020B0604020202020204" pitchFamily="34" charset="0"/>
              <a:buChar char="•"/>
            </a:pPr>
            <a:r>
              <a:rPr lang="en-IN" dirty="0"/>
              <a:t>Detects predefined errors such as database connection failures, authentication failures, connection timeouts, and out-of-memory errors. </a:t>
            </a:r>
          </a:p>
          <a:p>
            <a:pPr marL="285750" lvl="0" indent="-285750" algn="just">
              <a:buFont typeface="Arial" panose="020B0604020202020204" pitchFamily="34" charset="0"/>
              <a:buChar char="•"/>
            </a:pPr>
            <a:endParaRPr lang="en-IN" dirty="0"/>
          </a:p>
          <a:p>
            <a:pPr marL="285750" lvl="0" indent="-285750" algn="just">
              <a:buFont typeface="Arial" panose="020B0604020202020204" pitchFamily="34" charset="0"/>
              <a:buChar char="•"/>
            </a:pPr>
            <a:r>
              <a:rPr lang="en-IN" dirty="0"/>
              <a:t>Identifies and displays matched log entries. </a:t>
            </a:r>
          </a:p>
          <a:p>
            <a:pPr marL="285750" lvl="0" indent="-285750" algn="just">
              <a:buFont typeface="Arial" panose="020B0604020202020204" pitchFamily="34" charset="0"/>
              <a:buChar char="•"/>
            </a:pPr>
            <a:endParaRPr lang="en-IN" dirty="0"/>
          </a:p>
          <a:p>
            <a:pPr marL="285750" lvl="0" indent="-285750" algn="just">
              <a:buFont typeface="Arial" panose="020B0604020202020204" pitchFamily="34" charset="0"/>
              <a:buChar char="•"/>
            </a:pPr>
            <a:r>
              <a:rPr lang="en-IN" dirty="0"/>
              <a:t>Calculates the frequency of recurring errors. </a:t>
            </a:r>
          </a:p>
          <a:p>
            <a:pPr marL="285750" lvl="0" indent="-285750" algn="just">
              <a:buFont typeface="Arial" panose="020B0604020202020204" pitchFamily="34" charset="0"/>
              <a:buChar char="•"/>
            </a:pPr>
            <a:endParaRPr lang="en-IN" dirty="0"/>
          </a:p>
          <a:p>
            <a:pPr marL="285750" lvl="0" indent="-285750" algn="just">
              <a:buFont typeface="Arial" panose="020B0604020202020204" pitchFamily="34" charset="0"/>
              <a:buChar char="•"/>
            </a:pPr>
            <a:r>
              <a:rPr lang="en-IN" dirty="0"/>
              <a:t>Records important information such as timestamp, error message, source, and severity. </a:t>
            </a:r>
          </a:p>
          <a:p>
            <a:pPr lvl="0" algn="just"/>
            <a:endParaRPr lang="en-IN" dirty="0"/>
          </a:p>
          <a:p>
            <a:pPr marL="285750" lvl="0" indent="-285750" algn="just">
              <a:buFont typeface="Arial" panose="020B0604020202020204" pitchFamily="34" charset="0"/>
              <a:buChar char="•"/>
            </a:pPr>
            <a:r>
              <a:rPr lang="en-IN" dirty="0"/>
              <a:t>Classifies errors into levels such as INFO, WARNING, ERROR, and CRITICAL. </a:t>
            </a:r>
          </a:p>
          <a:p>
            <a:pPr marL="285750" lvl="0" indent="-285750" algn="just">
              <a:buFont typeface="Arial" panose="020B0604020202020204" pitchFamily="34" charset="0"/>
              <a:buChar char="•"/>
            </a:pPr>
            <a:endParaRPr lang="en-IN" dirty="0"/>
          </a:p>
          <a:p>
            <a:pPr marL="285750" lvl="0" indent="-285750" algn="just">
              <a:buFont typeface="Arial" panose="020B0604020202020204" pitchFamily="34" charset="0"/>
              <a:buChar char="•"/>
            </a:pPr>
            <a:r>
              <a:rPr lang="en-IN" dirty="0"/>
              <a:t>Generates summary reports containing error type, frequency, severity, and timestamps.</a:t>
            </a:r>
          </a:p>
          <a:p>
            <a:pPr lvl="0" algn="just"/>
            <a:r>
              <a:rPr lang="en-IN" dirty="0"/>
              <a:t> </a:t>
            </a:r>
          </a:p>
          <a:p>
            <a:pPr marL="285750" lvl="0" indent="-285750" algn="just">
              <a:buFont typeface="Arial" panose="020B0604020202020204" pitchFamily="34" charset="0"/>
              <a:buChar char="•"/>
            </a:pPr>
            <a:r>
              <a:rPr lang="en-IN" dirty="0"/>
              <a:t>Supports continuous monitoring of newly generated log entries. </a:t>
            </a:r>
          </a:p>
          <a:p>
            <a:endParaRPr lang="en-IN" dirty="0"/>
          </a:p>
        </p:txBody>
      </p:sp>
    </p:spTree>
    <p:extLst>
      <p:ext uri="{BB962C8B-B14F-4D97-AF65-F5344CB8AC3E}">
        <p14:creationId xmlns:p14="http://schemas.microsoft.com/office/powerpoint/2010/main" val="106092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B3691B69-BBFF-653A-7B37-DEAE0EC67FB5}"/>
              </a:ext>
            </a:extLst>
          </p:cNvPr>
          <p:cNvSpPr txBox="1"/>
          <p:nvPr/>
        </p:nvSpPr>
        <p:spPr>
          <a:xfrm>
            <a:off x="2675142" y="1035697"/>
            <a:ext cx="7399175" cy="5632311"/>
          </a:xfrm>
          <a:prstGeom prst="rect">
            <a:avLst/>
          </a:prstGeom>
          <a:noFill/>
        </p:spPr>
        <p:txBody>
          <a:bodyPr wrap="square" rtlCol="0">
            <a:spAutoFit/>
          </a:bodyPr>
          <a:lstStyle/>
          <a:p>
            <a:pPr marL="285750" indent="-285750">
              <a:buFont typeface="Arial" panose="020B0604020202020204" pitchFamily="34" charset="0"/>
              <a:buChar char="•"/>
            </a:pPr>
            <a:r>
              <a:rPr lang="en-IN" b="1" dirty="0"/>
              <a:t>Hardware Requirements</a:t>
            </a:r>
          </a:p>
          <a:p>
            <a:pPr marL="285750" indent="-285750">
              <a:buFont typeface="Arial" panose="020B0604020202020204" pitchFamily="34" charset="0"/>
              <a:buChar char="•"/>
            </a:pPr>
            <a:endParaRPr lang="en-IN" b="1" dirty="0"/>
          </a:p>
          <a:p>
            <a:pPr marL="342900" indent="-342900">
              <a:buFont typeface="+mj-lt"/>
              <a:buAutoNum type="arabicPeriod"/>
            </a:pPr>
            <a:r>
              <a:rPr lang="en-IN" dirty="0"/>
              <a:t>Processor: Intel Core i3 or above </a:t>
            </a:r>
          </a:p>
          <a:p>
            <a:pPr marL="342900" indent="-342900">
              <a:buFont typeface="+mj-lt"/>
              <a:buAutoNum type="arabicPeriod"/>
            </a:pPr>
            <a:r>
              <a:rPr lang="en-IN" dirty="0"/>
              <a:t>RAM: Minimum 4 GB, recommended 8 GB </a:t>
            </a:r>
          </a:p>
          <a:p>
            <a:pPr marL="342900" indent="-342900">
              <a:buFont typeface="+mj-lt"/>
              <a:buAutoNum type="arabicPeriod"/>
            </a:pPr>
            <a:r>
              <a:rPr lang="en-IN" dirty="0"/>
              <a:t>Storage: Minimum 10 GB free space </a:t>
            </a:r>
          </a:p>
          <a:p>
            <a:pPr marL="342900" indent="-342900">
              <a:buFont typeface="+mj-lt"/>
              <a:buAutoNum type="arabicPeriod"/>
            </a:pPr>
            <a:r>
              <a:rPr lang="en-IN" dirty="0"/>
              <a:t>System: Laptop/Desktop </a:t>
            </a:r>
          </a:p>
          <a:p>
            <a:pPr marL="342900" indent="-342900">
              <a:buFont typeface="+mj-lt"/>
              <a:buAutoNum type="arabicPeriod"/>
            </a:pPr>
            <a:r>
              <a:rPr lang="en-IN" dirty="0"/>
              <a:t>Internet: Required for downloading datasets and software packages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Software Requirements</a:t>
            </a:r>
          </a:p>
          <a:p>
            <a:pPr marL="285750" indent="-285750">
              <a:buFont typeface="Arial" panose="020B0604020202020204" pitchFamily="34" charset="0"/>
              <a:buChar char="•"/>
            </a:pPr>
            <a:endParaRPr lang="en-IN" b="1" dirty="0"/>
          </a:p>
          <a:p>
            <a:pPr marL="342900" indent="-342900">
              <a:buFont typeface="+mj-lt"/>
              <a:buAutoNum type="arabicPeriod"/>
            </a:pPr>
            <a:r>
              <a:rPr lang="en-IN" dirty="0"/>
              <a:t>Windows / Linux / Ubuntu</a:t>
            </a:r>
          </a:p>
          <a:p>
            <a:pPr marL="342900" indent="-342900">
              <a:buFont typeface="+mj-lt"/>
              <a:buAutoNum type="arabicPeriod"/>
            </a:pPr>
            <a:r>
              <a:rPr lang="en-IN" dirty="0"/>
              <a:t>Python 3.x</a:t>
            </a:r>
          </a:p>
          <a:p>
            <a:pPr marL="342900" indent="-342900">
              <a:buFont typeface="+mj-lt"/>
              <a:buAutoNum type="arabicPeriod"/>
            </a:pPr>
            <a:r>
              <a:rPr lang="en-IN" dirty="0"/>
              <a:t>VS Code / PyCharm</a:t>
            </a:r>
          </a:p>
          <a:p>
            <a:pPr marL="342900" indent="-342900">
              <a:buFont typeface="+mj-lt"/>
              <a:buAutoNum type="arabicPeriod"/>
            </a:pPr>
            <a:r>
              <a:rPr lang="en-IN" dirty="0"/>
              <a:t>Flask</a:t>
            </a:r>
          </a:p>
          <a:p>
            <a:pPr marL="342900" indent="-342900">
              <a:buFont typeface="+mj-lt"/>
              <a:buAutoNum type="arabicPeriod"/>
            </a:pPr>
            <a:r>
              <a:rPr lang="en-IN" dirty="0"/>
              <a:t>Pandas</a:t>
            </a:r>
          </a:p>
          <a:p>
            <a:pPr marL="342900" indent="-342900">
              <a:buFont typeface="+mj-lt"/>
              <a:buAutoNum type="arabicPeriod"/>
            </a:pPr>
            <a:r>
              <a:rPr lang="en-IN" dirty="0"/>
              <a:t>Matplotlib</a:t>
            </a:r>
          </a:p>
          <a:p>
            <a:pPr marL="342900" indent="-342900">
              <a:buFont typeface="+mj-lt"/>
              <a:buAutoNum type="arabicPeriod"/>
            </a:pPr>
            <a:r>
              <a:rPr lang="en-IN" dirty="0"/>
              <a:t>SQLite / MySQL</a:t>
            </a:r>
          </a:p>
          <a:p>
            <a:pPr marL="342900" indent="-342900">
              <a:buFont typeface="+mj-lt"/>
              <a:buAutoNum type="arabicPeriod"/>
            </a:pPr>
            <a:r>
              <a:rPr lang="en-IN" dirty="0"/>
              <a:t>Git/GitHub</a:t>
            </a:r>
          </a:p>
          <a:p>
            <a:pPr marL="342900" indent="-342900">
              <a:buFont typeface="+mj-lt"/>
              <a:buAutoNum type="arabicPeriod"/>
            </a:pPr>
            <a:r>
              <a:rPr lang="en-IN" dirty="0"/>
              <a:t>Web Browser</a:t>
            </a:r>
          </a:p>
          <a:p>
            <a:endParaRPr lang="en-IN" dirty="0"/>
          </a:p>
        </p:txBody>
      </p:sp>
    </p:spTree>
    <p:extLst>
      <p:ext uri="{BB962C8B-B14F-4D97-AF65-F5344CB8AC3E}">
        <p14:creationId xmlns:p14="http://schemas.microsoft.com/office/powerpoint/2010/main" val="2292750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DF72CF48-AF7A-01B3-4021-5E0948D8C2A8}"/>
              </a:ext>
            </a:extLst>
          </p:cNvPr>
          <p:cNvSpPr txBox="1"/>
          <p:nvPr/>
        </p:nvSpPr>
        <p:spPr>
          <a:xfrm>
            <a:off x="1934545" y="2136338"/>
            <a:ext cx="832290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The Log Analysis System helps system administrators analyze millions of server log entries quickly and easily.  It uses efficient </a:t>
            </a:r>
            <a:r>
              <a:rPr lang="en-US" dirty="0" err="1"/>
              <a:t>stringmatching</a:t>
            </a:r>
            <a:r>
              <a:rPr lang="en-US" dirty="0"/>
              <a:t> algorithms to find predefined error patterns, count their frequency, and classify them based on severity. The system reduces manual effort and analysis time and helps administrators identify recurring and critical errors faster.  Continuous log monitoring also allows new errors to be detected as they occur. </a:t>
            </a:r>
            <a:r>
              <a:rPr lang="en-IN" dirty="0"/>
              <a:t>Overall, the system helps administrators </a:t>
            </a:r>
            <a:r>
              <a:rPr lang="en-IN" b="1" dirty="0"/>
              <a:t>quickly identify problems and improve server reliability</a:t>
            </a:r>
            <a:r>
              <a:rPr lang="en-IN" dirty="0"/>
              <a:t>. </a:t>
            </a:r>
            <a:endParaRPr lang="en-US" dirty="0"/>
          </a:p>
          <a:p>
            <a:pPr marL="285750" indent="-285750">
              <a:buFont typeface="Arial" panose="020B0604020202020204" pitchFamily="34" charset="0"/>
              <a:buChar char="•"/>
            </a:pPr>
            <a:endParaRPr lang="en-US" dirty="0"/>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40E635FF-7ABD-90F4-8B05-7BEA0439DED8}"/>
              </a:ext>
            </a:extLst>
          </p:cNvPr>
          <p:cNvSpPr txBox="1"/>
          <p:nvPr/>
        </p:nvSpPr>
        <p:spPr>
          <a:xfrm>
            <a:off x="2370823" y="989044"/>
            <a:ext cx="7277030" cy="5355312"/>
          </a:xfrm>
          <a:prstGeom prst="rect">
            <a:avLst/>
          </a:prstGeom>
          <a:noFill/>
        </p:spPr>
        <p:txBody>
          <a:bodyPr wrap="square" rtlCol="0">
            <a:spAutoFit/>
          </a:bodyPr>
          <a:lstStyle/>
          <a:p>
            <a:pPr algn="just" eaLnBrk="0" fontAlgn="base" hangingPunct="0">
              <a:spcBef>
                <a:spcPct val="0"/>
              </a:spcBef>
              <a:spcAft>
                <a:spcPct val="0"/>
              </a:spcAft>
            </a:pPr>
            <a:r>
              <a:rPr lang="en-US" altLang="en-US" b="1" dirty="0"/>
              <a:t>Real-time monitoring:</a:t>
            </a:r>
            <a:r>
              <a:rPr lang="en-US" altLang="en-US" dirty="0"/>
              <a:t> The system can watch logs continuously and show new errors immediately. </a:t>
            </a:r>
          </a:p>
          <a:p>
            <a:pPr algn="just" eaLnBrk="0" fontAlgn="base" hangingPunct="0">
              <a:spcBef>
                <a:spcPct val="0"/>
              </a:spcBef>
              <a:spcAft>
                <a:spcPct val="0"/>
              </a:spcAft>
            </a:pPr>
            <a:endParaRPr lang="en-US" altLang="en-US" dirty="0"/>
          </a:p>
          <a:p>
            <a:pPr algn="just" eaLnBrk="0" fontAlgn="base" hangingPunct="0">
              <a:spcBef>
                <a:spcPct val="0"/>
              </a:spcBef>
              <a:spcAft>
                <a:spcPct val="0"/>
              </a:spcAft>
            </a:pPr>
            <a:r>
              <a:rPr lang="en-US" altLang="en-US" b="1" dirty="0"/>
              <a:t>AI integration:</a:t>
            </a:r>
            <a:r>
              <a:rPr lang="en-US" altLang="en-US" dirty="0"/>
              <a:t> AI can be used to find unusual errors automatically. </a:t>
            </a:r>
          </a:p>
          <a:p>
            <a:pPr algn="just" eaLnBrk="0" fontAlgn="base" hangingPunct="0">
              <a:spcBef>
                <a:spcPct val="0"/>
              </a:spcBef>
              <a:spcAft>
                <a:spcPct val="0"/>
              </a:spcAft>
            </a:pPr>
            <a:endParaRPr lang="en-US" altLang="en-US" dirty="0"/>
          </a:p>
          <a:p>
            <a:pPr lvl="0" algn="just" eaLnBrk="0" fontAlgn="base" hangingPunct="0">
              <a:spcBef>
                <a:spcPct val="0"/>
              </a:spcBef>
              <a:spcAft>
                <a:spcPct val="0"/>
              </a:spcAft>
            </a:pPr>
            <a:r>
              <a:rPr lang="en-US" altLang="en-US" b="1" dirty="0"/>
              <a:t>Error alerts:</a:t>
            </a:r>
            <a:r>
              <a:rPr lang="en-US" altLang="en-US" dirty="0"/>
              <a:t> The system can send alerts when a serious error occurs. </a:t>
            </a:r>
          </a:p>
          <a:p>
            <a:pPr lvl="0" algn="just" eaLnBrk="0" fontAlgn="base" hangingPunct="0">
              <a:spcBef>
                <a:spcPct val="0"/>
              </a:spcBef>
              <a:spcAft>
                <a:spcPct val="0"/>
              </a:spcAft>
            </a:pPr>
            <a:endParaRPr lang="en-US" altLang="en-US" dirty="0"/>
          </a:p>
          <a:p>
            <a:pPr lvl="0" algn="just" eaLnBrk="0" fontAlgn="base" hangingPunct="0">
              <a:spcBef>
                <a:spcPct val="0"/>
              </a:spcBef>
              <a:spcAft>
                <a:spcPct val="0"/>
              </a:spcAft>
            </a:pPr>
            <a:r>
              <a:rPr lang="en-US" altLang="en-US" b="1" dirty="0"/>
              <a:t>Better reports:</a:t>
            </a:r>
            <a:r>
              <a:rPr lang="en-US" altLang="en-US" dirty="0"/>
              <a:t> More detailed charts and reports can be added.</a:t>
            </a:r>
          </a:p>
          <a:p>
            <a:pPr lvl="0" algn="just" eaLnBrk="0" fontAlgn="base" hangingPunct="0">
              <a:spcBef>
                <a:spcPct val="0"/>
              </a:spcBef>
              <a:spcAft>
                <a:spcPct val="0"/>
              </a:spcAft>
            </a:pPr>
            <a:r>
              <a:rPr lang="en-US" altLang="en-US" dirty="0"/>
              <a:t> </a:t>
            </a:r>
          </a:p>
          <a:p>
            <a:pPr lvl="0" algn="just" eaLnBrk="0" fontAlgn="base" hangingPunct="0">
              <a:spcBef>
                <a:spcPct val="0"/>
              </a:spcBef>
              <a:spcAft>
                <a:spcPct val="0"/>
              </a:spcAft>
            </a:pPr>
            <a:r>
              <a:rPr lang="en-US" altLang="en-US" b="1" dirty="0"/>
              <a:t>Cloud support:</a:t>
            </a:r>
            <a:r>
              <a:rPr lang="en-US" altLang="en-US" dirty="0"/>
              <a:t> The system can analyze logs stored on cloud servers.</a:t>
            </a:r>
          </a:p>
          <a:p>
            <a:pPr lvl="0" algn="just" eaLnBrk="0" fontAlgn="base" hangingPunct="0">
              <a:spcBef>
                <a:spcPct val="0"/>
              </a:spcBef>
              <a:spcAft>
                <a:spcPct val="0"/>
              </a:spcAft>
            </a:pPr>
            <a:r>
              <a:rPr lang="en-US" altLang="en-US" dirty="0"/>
              <a:t> </a:t>
            </a:r>
          </a:p>
          <a:p>
            <a:pPr lvl="0" algn="just" eaLnBrk="0" fontAlgn="base" hangingPunct="0">
              <a:spcBef>
                <a:spcPct val="0"/>
              </a:spcBef>
              <a:spcAft>
                <a:spcPct val="0"/>
              </a:spcAft>
            </a:pPr>
            <a:r>
              <a:rPr lang="en-US" altLang="en-US" b="1" dirty="0"/>
              <a:t>Failure prediction:</a:t>
            </a:r>
            <a:r>
              <a:rPr lang="en-US" altLang="en-US" dirty="0"/>
              <a:t> It can predict possible system problems before they happen. </a:t>
            </a:r>
          </a:p>
          <a:p>
            <a:pPr lvl="0" algn="just" eaLnBrk="0" fontAlgn="base" hangingPunct="0">
              <a:spcBef>
                <a:spcPct val="0"/>
              </a:spcBef>
              <a:spcAft>
                <a:spcPct val="0"/>
              </a:spcAft>
            </a:pPr>
            <a:endParaRPr lang="en-US" altLang="en-US" dirty="0"/>
          </a:p>
          <a:p>
            <a:pPr lvl="0" algn="just" eaLnBrk="0" fontAlgn="base" hangingPunct="0">
              <a:spcBef>
                <a:spcPct val="0"/>
              </a:spcBef>
              <a:spcAft>
                <a:spcPct val="0"/>
              </a:spcAft>
            </a:pPr>
            <a:r>
              <a:rPr lang="en-US" altLang="en-US" b="1" dirty="0"/>
              <a:t>More log formats:</a:t>
            </a:r>
            <a:r>
              <a:rPr lang="en-US" altLang="en-US" dirty="0"/>
              <a:t> It can support logs from different servers and applications. </a:t>
            </a:r>
          </a:p>
          <a:p>
            <a:pPr lvl="0" algn="just" eaLnBrk="0" fontAlgn="base" hangingPunct="0">
              <a:spcBef>
                <a:spcPct val="0"/>
              </a:spcBef>
              <a:spcAft>
                <a:spcPct val="0"/>
              </a:spcAft>
            </a:pPr>
            <a:endParaRPr lang="en-US" altLang="en-US" dirty="0"/>
          </a:p>
          <a:p>
            <a:pPr lvl="0" algn="just" eaLnBrk="0" fontAlgn="base" hangingPunct="0">
              <a:spcBef>
                <a:spcPct val="0"/>
              </a:spcBef>
              <a:spcAft>
                <a:spcPct val="0"/>
              </a:spcAft>
            </a:pPr>
            <a:r>
              <a:rPr lang="en-US" altLang="en-US" b="1" dirty="0"/>
              <a:t>Automatic problem finding:</a:t>
            </a:r>
            <a:r>
              <a:rPr lang="en-US" altLang="en-US" dirty="0"/>
              <a:t> The system can help identify the main reason for an error.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TotalTime>
  <Words>1324</Words>
  <Application>Microsoft Office PowerPoint</Application>
  <PresentationFormat>Widescreen</PresentationFormat>
  <Paragraphs>147</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       Data Structures and Algorithms -3 (25CS2103E)  LOG ANALYSIS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MATTI AVISHYA</cp:lastModifiedBy>
  <cp:revision>27</cp:revision>
  <dcterms:created xsi:type="dcterms:W3CDTF">2024-08-29T05:25:00Z</dcterms:created>
  <dcterms:modified xsi:type="dcterms:W3CDTF">2026-09-28T06:43:18Z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